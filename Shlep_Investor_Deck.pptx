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640080"/>
            <a:ext cx="411480" cy="411480"/>
          </a:xfrm>
          <a:prstGeom prst="ellipse">
            <a:avLst/>
          </a:prstGeom>
          <a:solidFill>
            <a:srgbClr val="7FC79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960120"/>
            <a:ext cx="2011680" cy="2011680"/>
          </a:xfrm>
          <a:prstGeom prst="line">
            <a:avLst/>
          </a:prstGeom>
          <a:noFill/>
          <a:ln w="38100">
            <a:solidFill>
              <a:srgbClr val="FFFFFF">
                <a:alpha val="2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11887200" y="2788920"/>
            <a:ext cx="411480" cy="411480"/>
          </a:xfrm>
          <a:prstGeom prst="ellipse">
            <a:avLst/>
          </a:prstGeom>
          <a:solidFill>
            <a:srgbClr val="0F291E"/>
          </a:solidFill>
          <a:ln w="38100">
            <a:solidFill>
              <a:srgbClr val="C2613C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EST. ZÜRICH · 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1545336"/>
            <a:ext cx="109728" cy="109728"/>
          </a:xfrm>
          <a:prstGeom prst="ellipse">
            <a:avLst/>
          </a:prstGeom>
          <a:solidFill>
            <a:srgbClr val="3E7D5E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1600200"/>
            <a:ext cx="786384" cy="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764792" y="1545336"/>
            <a:ext cx="109728" cy="109728"/>
          </a:xfrm>
          <a:prstGeom prst="ellipse">
            <a:avLst/>
          </a:prstGeom>
          <a:solidFill>
            <a:srgbClr val="0F291E"/>
          </a:solidFill>
          <a:ln w="25400">
            <a:solidFill>
              <a:srgbClr val="C261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325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Shlep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it with someone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going there.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822960" y="4343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Switzerland's peer-to-peer parcel network — neighbours carrying packages along trips they're already making. Faster, cheaper, and low-carbon by design.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544068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7FC79B">
              <a:alpha val="18000"/>
            </a:srgbClr>
          </a:solidFill>
          <a:ln w="12700">
            <a:solidFill>
              <a:srgbClr val="7FC79B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5605272"/>
            <a:ext cx="137160" cy="137160"/>
          </a:xfrm>
          <a:prstGeom prst="ellipse">
            <a:avLst/>
          </a:prstGeom>
          <a:solidFill>
            <a:srgbClr val="7FC79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FC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LOW-CARBON BY DESIGN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Pre-Seed Investor Overview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mile is the expensive, dirty mile.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514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35204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transport CO₂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Last-mile delivery drives a wildly disproportionate share of transport emissions — short distances, heavy footprint.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36008" y="210312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56048" y="2514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4D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~200M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956048" y="35204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parcels / year in 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56048" y="397764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parcel volumes are growing again (+3.5% in 2025) as e-commerce rebounds — more vans, more trips, more congestion.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49056" y="210312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69096" y="2514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A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8–12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769096" y="35204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courier cost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69096" y="397764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courier delivery is slow and pricey, while thousands of people drive the exact same routes empty every day.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39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crowdshipping &amp; last-mile emissions research; Swiss Post parcel volumes 2023–25.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C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trips people already make into a delivery network.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Shlep matches a parcel to a neighbour, commuter, or friend already driving that way. Every handoff is verified with a 6-digit code, tracked live, and rated — so it feels as safe as a courier, at a fraction of the cost and carbon.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274320" cy="274320"/>
          </a:xfrm>
          <a:prstGeom prst="ellipse">
            <a:avLst/>
          </a:prstGeom>
          <a:solidFill>
            <a:srgbClr val="7FC79B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437083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2803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Senders set the price; drivers earn on trips they'd make anyway.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4434840"/>
            <a:ext cx="274320" cy="274320"/>
          </a:xfrm>
          <a:prstGeom prst="ellipse">
            <a:avLst/>
          </a:prstGeom>
          <a:solidFill>
            <a:srgbClr val="7FC79B"/>
          </a:solidFill>
          <a:ln/>
        </p:spPr>
      </p:sp>
      <p:sp>
        <p:nvSpPr>
          <p:cNvPr id="9" name="Text 7"/>
          <p:cNvSpPr/>
          <p:nvPr/>
        </p:nvSpPr>
        <p:spPr>
          <a:xfrm>
            <a:off x="3813048" y="437083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482803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vehicle-km — the trip already exists. Carbon is measured per delivery.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4434840"/>
            <a:ext cx="274320" cy="274320"/>
          </a:xfrm>
          <a:prstGeom prst="ellipse">
            <a:avLst/>
          </a:prstGeom>
          <a:solidFill>
            <a:srgbClr val="7FC7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437083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35040" y="482803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trusted, rated network of locals — not an anonymous fleet.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0" y="2468880"/>
            <a:ext cx="2468880" cy="26517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326880" y="2697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24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372600" y="3429000"/>
            <a:ext cx="146304" cy="146304"/>
          </a:xfrm>
          <a:prstGeom prst="ellipse">
            <a:avLst/>
          </a:prstGeom>
          <a:solidFill>
            <a:srgbClr val="3E7D5E"/>
          </a:solidFill>
          <a:ln/>
        </p:spPr>
      </p:sp>
      <p:sp>
        <p:nvSpPr>
          <p:cNvPr id="17" name="Text 15"/>
          <p:cNvSpPr/>
          <p:nvPr/>
        </p:nvSpPr>
        <p:spPr>
          <a:xfrm>
            <a:off x="9619488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Langstrasse, Zürich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45752" y="3639312"/>
            <a:ext cx="0" cy="502920"/>
          </a:xfrm>
          <a:prstGeom prst="line">
            <a:avLst/>
          </a:prstGeom>
          <a:noFill/>
          <a:ln w="19050">
            <a:solidFill>
              <a:srgbClr val="A39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9372600" y="4160520"/>
            <a:ext cx="146304" cy="146304"/>
          </a:xfrm>
          <a:prstGeom prst="ellipse">
            <a:avLst/>
          </a:prstGeom>
          <a:solidFill>
            <a:srgbClr val="F4F0E7"/>
          </a:solidFill>
          <a:ln w="25400">
            <a:solidFill>
              <a:srgbClr val="C261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19488" y="40782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Bahnhofstr., Winterthur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26880" y="4590288"/>
            <a:ext cx="1920240" cy="0"/>
          </a:xfrm>
          <a:prstGeom prst="line">
            <a:avLst/>
          </a:prstGeom>
          <a:noFill/>
          <a:ln w="12700">
            <a:solidFill>
              <a:srgbClr val="E8E1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26880" y="4745736"/>
            <a:ext cx="146304" cy="146304"/>
          </a:xfrm>
          <a:prstGeom prst="ellipse">
            <a:avLst/>
          </a:prstGeom>
          <a:solidFill>
            <a:srgbClr val="7FC79B"/>
          </a:solidFill>
          <a:ln/>
        </p:spPr>
      </p:sp>
      <p:sp>
        <p:nvSpPr>
          <p:cNvPr id="23" name="Text 21"/>
          <p:cNvSpPr/>
          <p:nvPr/>
        </p:nvSpPr>
        <p:spPr>
          <a:xfrm>
            <a:off x="9546336" y="4681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kg CO₂ saved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steps, one verified handoff.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560320"/>
            <a:ext cx="731520" cy="731520"/>
          </a:xfrm>
          <a:prstGeom prst="ellipse">
            <a:avLst/>
          </a:prstGeom>
          <a:solidFill>
            <a:srgbClr val="1F4D3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43000" y="35204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sender lists a parcel — size, route, and the price they'll pay. Takes under a minute.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88536" y="3694176"/>
            <a:ext cx="109728" cy="109728"/>
          </a:xfrm>
          <a:prstGeom prst="ellipse">
            <a:avLst/>
          </a:prstGeom>
          <a:solidFill>
            <a:srgbClr val="3E7D5E"/>
          </a:solidFill>
          <a:ln/>
        </p:spPr>
      </p:sp>
      <p:sp>
        <p:nvSpPr>
          <p:cNvPr id="10" name="Shape 8"/>
          <p:cNvSpPr/>
          <p:nvPr/>
        </p:nvSpPr>
        <p:spPr>
          <a:xfrm>
            <a:off x="4398264" y="3749040"/>
            <a:ext cx="91440" cy="0"/>
          </a:xfrm>
          <a:prstGeom prst="line">
            <a:avLst/>
          </a:prstGeom>
          <a:noFill/>
          <a:ln w="19050">
            <a:solidFill>
              <a:srgbClr val="A39C8C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89704" y="3694176"/>
            <a:ext cx="109728" cy="109728"/>
          </a:xfrm>
          <a:prstGeom prst="ellipse">
            <a:avLst/>
          </a:prstGeom>
          <a:solidFill>
            <a:srgbClr val="F4F0E7"/>
          </a:solidFill>
          <a:ln w="25400">
            <a:solidFill>
              <a:srgbClr val="C261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36008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56048" y="2560320"/>
            <a:ext cx="731520" cy="731520"/>
          </a:xfrm>
          <a:prstGeom prst="ellipse">
            <a:avLst/>
          </a:prstGeom>
          <a:solidFill>
            <a:srgbClr val="1F4D3B"/>
          </a:solidFill>
          <a:ln/>
        </p:spPr>
      </p:sp>
      <p:sp>
        <p:nvSpPr>
          <p:cNvPr id="14" name="Text 12"/>
          <p:cNvSpPr/>
          <p:nvPr/>
        </p:nvSpPr>
        <p:spPr>
          <a:xfrm>
            <a:off x="4956048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956048" y="35204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56048" y="402336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driver already heading that way accepts. Shlep authorises payment and shares live tracking.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01584" y="3694176"/>
            <a:ext cx="109728" cy="109728"/>
          </a:xfrm>
          <a:prstGeom prst="ellipse">
            <a:avLst/>
          </a:prstGeom>
          <a:solidFill>
            <a:srgbClr val="3E7D5E"/>
          </a:solidFill>
          <a:ln/>
        </p:spPr>
      </p:sp>
      <p:sp>
        <p:nvSpPr>
          <p:cNvPr id="18" name="Shape 16"/>
          <p:cNvSpPr/>
          <p:nvPr/>
        </p:nvSpPr>
        <p:spPr>
          <a:xfrm>
            <a:off x="8211312" y="3749040"/>
            <a:ext cx="91440" cy="0"/>
          </a:xfrm>
          <a:prstGeom prst="line">
            <a:avLst/>
          </a:prstGeom>
          <a:noFill/>
          <a:ln w="19050">
            <a:solidFill>
              <a:srgbClr val="A39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302752" y="3694176"/>
            <a:ext cx="109728" cy="109728"/>
          </a:xfrm>
          <a:prstGeom prst="ellipse">
            <a:avLst/>
          </a:prstGeom>
          <a:solidFill>
            <a:srgbClr val="F4F0E7"/>
          </a:solidFill>
          <a:ln w="25400">
            <a:solidFill>
              <a:srgbClr val="C261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49056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769096" y="2560320"/>
            <a:ext cx="731520" cy="731520"/>
          </a:xfrm>
          <a:prstGeom prst="ellipse">
            <a:avLst/>
          </a:prstGeom>
          <a:solidFill>
            <a:srgbClr val="1F4D3B"/>
          </a:solidFill>
          <a:ln/>
        </p:spPr>
      </p:sp>
      <p:sp>
        <p:nvSpPr>
          <p:cNvPr id="22" name="Text 20"/>
          <p:cNvSpPr/>
          <p:nvPr/>
        </p:nvSpPr>
        <p:spPr>
          <a:xfrm>
            <a:off x="8769096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769096" y="35204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769096" y="402336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and drop-off are confirmed with 6-digit codes. Driver is paid; carbon saved is logged.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5715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Escrow-style payment (Stripe Connect + TWINT) is captured only on a verified delivery.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tailwinds converging in Switzerland.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331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15.8B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0" y="2331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E-commerce, growing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0" y="231343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online retail hit CHF ~15.8B in 2025 (+6% YoY), on a ~14% CAGR path — more parcels every year.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3483864"/>
            <a:ext cx="105156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366674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Rebound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57600" y="366674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 volumes rising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6484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three flat years, Swiss parcel volume grew again in 2025 — the delivery pie is expanding.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818888"/>
            <a:ext cx="1051560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51560" y="500176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57600" y="50017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Decarbonisation pressure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49834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Switzerland's net-zero-2050 goals put last-mile emissions squarely in the spotlight for retailers and cities.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39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Swiss e-commerce market 2025 (commerce.swiss / Statista / Mordor Intelligence); Swiss Post 2025.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C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MVP — not a mockup.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148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role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25328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account sends and drives — most users do both.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196596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4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2148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tracking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92040" y="253288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GPS + in-app chat from pickup to drop-off.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4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Code-verified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417880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6-digit codes secure every pickup and delivery.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36118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receipts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92040" y="417880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trip shows the CO₂ it saved — the habit loop.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54406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routes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97280" y="582472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Commuters publish weekly routes; supply that compounds.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525780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54406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built-in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582472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Connect + TWINT, 91% auto-paid to drivers.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32520" y="1874520"/>
            <a:ext cx="2606040" cy="4480560"/>
          </a:xfrm>
          <a:prstGeom prst="roundRect">
            <a:avLst>
              <a:gd name="adj" fmla="val 9825"/>
            </a:avLst>
          </a:prstGeom>
          <a:solidFill>
            <a:srgbClr val="0F291E"/>
          </a:solidFill>
          <a:ln w="19050">
            <a:solidFill>
              <a:srgbClr val="7FC79B">
                <a:alpha val="60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97112" y="2039112"/>
            <a:ext cx="2276856" cy="4151376"/>
          </a:xfrm>
          <a:prstGeom prst="roundRect">
            <a:avLst>
              <a:gd name="adj" fmla="val 8032"/>
            </a:avLst>
          </a:prstGeom>
          <a:solidFill>
            <a:srgbClr val="F4F0E7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GRÜEZI, LENA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98280" y="249631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9052560" y="2971800"/>
            <a:ext cx="1965960" cy="685800"/>
          </a:xfrm>
          <a:prstGeom prst="roundRect">
            <a:avLst>
              <a:gd name="adj" fmla="val 13333"/>
            </a:avLst>
          </a:prstGeom>
          <a:solidFill>
            <a:srgbClr val="EAF1EB"/>
          </a:solidFill>
          <a:ln w="12700">
            <a:solidFill>
              <a:srgbClr val="CDE0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55480" y="3063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23.4 kg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55480" y="3355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 saved this year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144000" y="3154680"/>
            <a:ext cx="292608" cy="292608"/>
          </a:xfrm>
          <a:prstGeom prst="ellipse">
            <a:avLst/>
          </a:prstGeom>
          <a:solidFill>
            <a:srgbClr val="1F4D3B"/>
          </a:solidFill>
          <a:ln/>
        </p:spPr>
      </p:sp>
      <p:sp>
        <p:nvSpPr>
          <p:cNvPr id="30" name="Shape 28"/>
          <p:cNvSpPr/>
          <p:nvPr/>
        </p:nvSpPr>
        <p:spPr>
          <a:xfrm>
            <a:off x="9052560" y="379476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9A2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35440" y="39319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0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24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23544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9A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NEEDED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235440" y="4389120"/>
            <a:ext cx="118872" cy="118872"/>
          </a:xfrm>
          <a:prstGeom prst="ellipse">
            <a:avLst/>
          </a:prstGeom>
          <a:solidFill>
            <a:srgbClr val="3E7D5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94876" y="4526280"/>
            <a:ext cx="0" cy="320040"/>
          </a:xfrm>
          <a:prstGeom prst="line">
            <a:avLst/>
          </a:prstGeom>
          <a:noFill/>
          <a:ln w="12700">
            <a:solidFill>
              <a:srgbClr val="A39C8C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9235440" y="4846320"/>
            <a:ext cx="118872" cy="118872"/>
          </a:xfrm>
          <a:prstGeom prst="ellipse">
            <a:avLst/>
          </a:prstGeom>
          <a:solidFill>
            <a:srgbClr val="F4F0E7"/>
          </a:solidFill>
          <a:ln w="19050">
            <a:solidFill>
              <a:srgbClr val="C261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0" y="44805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Zürich → Winterthur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052560" y="534924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1F4D3B"/>
          </a:solidFill>
          <a:ln/>
        </p:spPr>
      </p:sp>
      <p:sp>
        <p:nvSpPr>
          <p:cNvPr id="38" name="Text 36"/>
          <p:cNvSpPr/>
          <p:nvPr/>
        </p:nvSpPr>
        <p:spPr>
          <a:xfrm>
            <a:off x="9052560" y="53492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delivery request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9% take rate on every delivery.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economics with near-zero marginal cost. Payment is escrowed on match and split automatically on a code-verified delivery — the platform keeps 9% (min. CHF 1.50), the driver keeps 91%.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43000" y="2971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ECONOMICS · SAMPLE TRIP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3474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price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31920" y="34747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620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24.00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143000" y="4023360"/>
            <a:ext cx="4297680" cy="0"/>
          </a:xfrm>
          <a:prstGeom prst="line">
            <a:avLst/>
          </a:prstGeom>
          <a:noFill/>
          <a:ln w="12700">
            <a:solidFill>
              <a:srgbClr val="E8E1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41330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payout (91%)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413308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F6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21.84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143000" y="4681728"/>
            <a:ext cx="4297680" cy="0"/>
          </a:xfrm>
          <a:prstGeom prst="line">
            <a:avLst/>
          </a:prstGeom>
          <a:noFill/>
          <a:ln w="12700">
            <a:solidFill>
              <a:srgbClr val="E8E1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79145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Shlep revenue (9%)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931920" y="479145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2.16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126480" y="2697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scales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26480" y="3383280"/>
            <a:ext cx="256032" cy="256032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337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/ delivery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36393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2.16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041648"/>
            <a:ext cx="256032" cy="256032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995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Recurring routes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3796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4700016"/>
            <a:ext cx="256032" cy="256032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465429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Business senders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37960" y="49560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volume, higher price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5358384"/>
            <a:ext cx="256032" cy="256032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53126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Insurance &amp; priority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561441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fees later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SIZE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Switzerland-wide from day one.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E8E1D4"/>
          </a:solidFill>
          <a:ln w="12700">
            <a:solidFill>
              <a:srgbClr val="E8E1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</a:t>
            </a:r>
            <a:pPr algn="ctr" indent="0" marL="0">
              <a:buNone/>
            </a:pPr>
            <a:r>
              <a:rPr lang="en-US" sz="2000" b="1" dirty="0">
                <a:solidFill>
                  <a:srgbClr val="1620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15.8B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233172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e-commerce spend — the parcels that need moving.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3E7D5E"/>
          </a:solidFill>
          <a:ln w="12700">
            <a:solidFill>
              <a:srgbClr val="E8E1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0332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 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~CHF 1.5B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3703320"/>
            <a:ext cx="5989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P2P-suitable, intra-regional deliveries across Swiss urban corridors.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29200"/>
            <a:ext cx="2468880" cy="1051560"/>
          </a:xfrm>
          <a:prstGeom prst="roundRect">
            <a:avLst>
              <a:gd name="adj" fmla="val 8696"/>
            </a:avLst>
          </a:prstGeom>
          <a:solidFill>
            <a:srgbClr val="1F4D3B"/>
          </a:solidFill>
          <a:ln w="12700">
            <a:solidFill>
              <a:srgbClr val="E8E1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0749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  </a:t>
            </a:r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CHF 30–60M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11880" y="5074920"/>
            <a:ext cx="7543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 3–5 yr capture across Swiss urban corridors.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39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anchored to 2025 Swiss e-commerce; SAM/SOM are internal estimates for a P2P delivery layer.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C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launch-ready.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40487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+ Android app (React Native / Expo), fully redesigned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3008376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+ PostgreSQL backend with live Socket.io tracking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36118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payments live: Stripe Connect + TWINT, auto driver payouts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421538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Code-verified pickup/delivery, ratings, recurring routes, chat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4837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Per-delivery carbon accounting baked into the core loop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80960" y="192024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2148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6 months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2706624"/>
            <a:ext cx="146304" cy="146304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18" name="Text 16"/>
          <p:cNvSpPr/>
          <p:nvPr/>
        </p:nvSpPr>
        <p:spPr>
          <a:xfrm>
            <a:off x="8247888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closed cohort on Swiss commuter corridors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01000" y="3328416"/>
            <a:ext cx="146304" cy="146304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0" name="Text 18"/>
          <p:cNvSpPr/>
          <p:nvPr/>
        </p:nvSpPr>
        <p:spPr>
          <a:xfrm>
            <a:off x="8247888" y="327355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supply via recurring routes &amp; referrals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3950208"/>
            <a:ext cx="146304" cy="146304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2" name="Text 20"/>
          <p:cNvSpPr/>
          <p:nvPr/>
        </p:nvSpPr>
        <p:spPr>
          <a:xfrm>
            <a:off x="8247888" y="389534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1,000 verified deliveries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01000" y="4572000"/>
            <a:ext cx="146304" cy="146304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451713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carbon + safety metrics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001000" y="5193792"/>
            <a:ext cx="146304" cy="146304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51389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2–3 SME sender partners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than couriers, greener than everyone.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carbon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&amp; 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0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Shlep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8A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9A2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8A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8A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0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Swiss Post / couriers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1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9A2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1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1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0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Same-day gig delivery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1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8A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1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9A2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0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 (ask a friend)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8A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1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8A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9A2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1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strong    </a:t>
            </a:r>
            <a:pPr indent="0" marL="0">
              <a:buNone/>
            </a:pPr>
            <a:r>
              <a:rPr lang="en-US" sz="1300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pPr indent="0" marL="0"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mixed    </a:t>
            </a:r>
            <a:pPr indent="0" marL="0">
              <a:buNone/>
            </a:pPr>
            <a:r>
              <a:rPr lang="en-US" sz="1300" dirty="0">
                <a:solidFill>
                  <a:srgbClr val="C26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pPr indent="0" marL="0"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weak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39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Shlep is low-cost AND low-carbon AND a trusted local network — the trip already exists.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0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TO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the corridors, then own the rails.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3429000" cy="3383280"/>
          </a:xfrm>
          <a:prstGeom prst="roundRect">
            <a:avLst>
              <a:gd name="adj" fmla="val 3243"/>
            </a:avLst>
          </a:prstGeom>
          <a:solidFill>
            <a:srgbClr val="1F4D3B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5146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FC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28803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beachheads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43000" y="37490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dense commuter corridors across regions (Zürich–Winterthur, Bern–Thun, Genf–Lausanne). Recurring routes create reliable supply.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36008" y="2194560"/>
            <a:ext cx="342900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56048" y="25146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56048" y="28803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urban network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956048" y="37490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Densify into a national network between all major cities. Add SME sender accounts and business volume.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49056" y="2194560"/>
            <a:ext cx="342900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8E1D4"/>
            </a:solidFill>
            <a:prstDash val="solid"/>
          </a:ln>
          <a:effectLst>
            <a:outerShdw sx="100000" sy="100000" kx="0" ky="0" algn="bl" rotWithShape="0" blurRad="114300" dist="38100" dir="5400000">
              <a:srgbClr val="16201B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69096" y="25146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C26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69096" y="28803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6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delivery layer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769096" y="37490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the default low-carbon option retailers offer at checkout — carbon receipts as the wedge.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F6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Supply-led: a driver publishing one weekly route serves dozens of parcels — dense, defensible liquidity.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9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731520"/>
            <a:ext cx="2194560" cy="2194560"/>
          </a:xfrm>
          <a:prstGeom prst="line">
            <a:avLst/>
          </a:prstGeom>
          <a:noFill/>
          <a:ln w="38100">
            <a:solidFill>
              <a:srgbClr val="FFFFFF">
                <a:alpha val="18000"/>
              </a:srgbClr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9555480" y="594360"/>
            <a:ext cx="365760" cy="365760"/>
          </a:xfrm>
          <a:prstGeom prst="ellipse">
            <a:avLst/>
          </a:prstGeom>
          <a:solidFill>
            <a:srgbClr val="7FC79B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8600" y="2697480"/>
            <a:ext cx="365760" cy="365760"/>
          </a:xfrm>
          <a:prstGeom prst="ellipse">
            <a:avLst/>
          </a:prstGeom>
          <a:solidFill>
            <a:srgbClr val="0F291E"/>
          </a:solidFill>
          <a:ln w="38100">
            <a:solidFill>
              <a:srgbClr val="C2613C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C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00584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Raising CHF 750k pre-seed to launch Switzerland-wide.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months of runway to prove the launch cohort, hit 25k deliveries, and reach the metrics for a seed round.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37947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43000" y="4480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supply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48920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Rider/driver acquisition, referrals, corridor seeding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36008" y="352044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37947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56048" y="4480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eng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56048" y="48920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Trust, safety, matching quality, insurance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49056" y="352044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7FC79B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69096" y="37947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769096" y="44805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&amp; G&amp;A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69096" y="48920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team, support, legal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indicative for this draft — adjust round size and allocation to your plan.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9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1956816"/>
            <a:ext cx="109728" cy="109728"/>
          </a:xfrm>
          <a:prstGeom prst="ellipse">
            <a:avLst/>
          </a:prstGeom>
          <a:solidFill>
            <a:srgbClr val="3E7D5E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" y="2011680"/>
            <a:ext cx="969264" cy="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1947672" y="1956816"/>
            <a:ext cx="109728" cy="109728"/>
          </a:xfrm>
          <a:prstGeom prst="ellipse">
            <a:avLst/>
          </a:prstGeom>
          <a:solidFill>
            <a:srgbClr val="0F291E"/>
          </a:solidFill>
          <a:ln w="25400">
            <a:solidFill>
              <a:srgbClr val="C261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48840" y="1691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Shlep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Neighbours, moving things forward.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parcel that rides along a trip already happening is a van that never left the depot.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937760"/>
            <a:ext cx="5486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120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Nils Weiler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C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· Shlep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nils.weiler@gmail.com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Shlep — Investor Deck</dc:title>
  <dc:subject>PptxGenJS Presentation</dc:subject>
  <dc:creator>Shlep</dc:creator>
  <cp:lastModifiedBy>Shlep</cp:lastModifiedBy>
  <cp:revision>1</cp:revision>
  <dcterms:created xsi:type="dcterms:W3CDTF">2026-07-01T19:31:53Z</dcterms:created>
  <dcterms:modified xsi:type="dcterms:W3CDTF">2026-07-01T19:31:53Z</dcterms:modified>
</cp:coreProperties>
</file>